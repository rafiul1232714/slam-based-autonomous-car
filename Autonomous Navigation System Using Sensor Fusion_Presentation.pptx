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9" r:id="rId4"/>
    <p:sldId id="279" r:id="rId5"/>
    <p:sldId id="280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6" r:id="rId20"/>
    <p:sldId id="274" r:id="rId21"/>
    <p:sldId id="277" r:id="rId22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3"/>
    <a:srgbClr val="D9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4650" autoAdjust="0"/>
  </p:normalViewPr>
  <p:slideViewPr>
    <p:cSldViewPr snapToGrid="0" snapToObjects="1">
      <p:cViewPr varScale="1">
        <p:scale>
          <a:sx n="55" d="100"/>
          <a:sy n="55" d="100"/>
        </p:scale>
        <p:origin x="16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817F0-84FC-C145-AFC3-FA42D1D21F8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16E92-7EF2-5A47-8774-75AC8D7375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198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FA3C8-DE25-7348-A1F7-D749F91943C8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E6540-DBC8-1449-A578-CCAD6D2991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266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8001" y="1438812"/>
            <a:ext cx="7520410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8001" y="3176700"/>
            <a:ext cx="7520410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12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26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FB14-23E0-1F4C-A6C5-95691F2AB521}" type="datetime1">
              <a:rPr lang="de-DE" smtClean="0"/>
              <a:t>03.06.2026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6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EEAD-2E33-CB41-913B-6235DD169CF5}" type="datetime1">
              <a:rPr lang="de-DE" smtClean="0"/>
              <a:t>03.06.2026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9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645A-B693-BB43-8646-3B1C1BAD48BE}" type="datetime1">
              <a:rPr lang="de-DE" smtClean="0"/>
              <a:t>03.06.2026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8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CBFB4-2031-A542-A2EF-20BD4D9E5256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4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8818-9833-2C4A-8849-8268EC11202B}" type="datetime1">
              <a:rPr lang="de-DE" smtClean="0"/>
              <a:t>03.06.2026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6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4BE1-0C38-F948-9EB8-8FC2670177F0}" type="datetime1">
              <a:rPr lang="de-DE" smtClean="0"/>
              <a:t>03.06.2026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75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3445-959C-4840-857B-0726FC3AABF6}" type="datetime1">
              <a:rPr lang="de-DE" smtClean="0"/>
              <a:t>03.06.2026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6519-39B1-594B-9118-53EDDEBB1F38}" type="datetime1">
              <a:rPr lang="de-DE" smtClean="0"/>
              <a:t>03.06.2026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69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648000"/>
            <a:ext cx="8532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8000" y="745650"/>
            <a:ext cx="7675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48000" y="2021180"/>
            <a:ext cx="7675432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Bild 6" descr="HSHL_Logo_horizontal_RGB_Sequenz_Animation.gi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000" y="223200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25453" y="882630"/>
            <a:ext cx="7520410" cy="1470025"/>
          </a:xfrm>
        </p:spPr>
        <p:txBody>
          <a:bodyPr>
            <a:noAutofit/>
          </a:bodyPr>
          <a:lstStyle/>
          <a:p>
            <a:r>
              <a:rPr lang="en-US" dirty="0"/>
              <a:t>Autonomous Navigation System Using Sensor Fusion</a:t>
            </a:r>
            <a:br>
              <a:rPr lang="en-US" dirty="0"/>
            </a:b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061262" y="2352655"/>
            <a:ext cx="1510738" cy="399972"/>
          </a:xfrm>
        </p:spPr>
        <p:txBody>
          <a:bodyPr>
            <a:normAutofit fontScale="92500"/>
          </a:bodyPr>
          <a:lstStyle/>
          <a:p>
            <a:r>
              <a:rPr lang="de-DE" sz="2000" dirty="0"/>
              <a:t>Project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4F7BA-759E-72CA-FF4D-3472D5E67B3B}"/>
              </a:ext>
            </a:extLst>
          </p:cNvPr>
          <p:cNvSpPr txBox="1"/>
          <p:nvPr/>
        </p:nvSpPr>
        <p:spPr>
          <a:xfrm>
            <a:off x="4572000" y="4460335"/>
            <a:ext cx="37018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Name: MD Rafiul Islam</a:t>
            </a:r>
          </a:p>
          <a:p>
            <a:r>
              <a:rPr lang="en-US" dirty="0"/>
              <a:t>Matriculation No: 1232714</a:t>
            </a:r>
          </a:p>
          <a:p>
            <a:r>
              <a:rPr lang="en-US" dirty="0"/>
              <a:t>Course: Electronic Engineering</a:t>
            </a:r>
          </a:p>
          <a:p>
            <a:r>
              <a:rPr lang="en-US" dirty="0"/>
              <a:t>Supervisor: Prof. Dr. Achim Rettberg</a:t>
            </a:r>
          </a:p>
          <a:p>
            <a:r>
              <a:rPr lang="en-US" dirty="0"/>
              <a:t>Second Supervisor: M. Sc. Ali Alhalabi</a:t>
            </a:r>
          </a:p>
        </p:txBody>
      </p:sp>
    </p:spTree>
    <p:extLst>
      <p:ext uri="{BB962C8B-B14F-4D97-AF65-F5344CB8AC3E}">
        <p14:creationId xmlns:p14="http://schemas.microsoft.com/office/powerpoint/2010/main" val="694128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8000" y="843762"/>
            <a:ext cx="767543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10552" y="1710097"/>
            <a:ext cx="4942095" cy="2249162"/>
          </a:xfrm>
        </p:spPr>
        <p:txBody>
          <a:bodyPr>
            <a:normAutofit fontScale="4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Robots need accurate </a:t>
            </a:r>
            <a:r>
              <a:rPr lang="en-US" b="1" dirty="0"/>
              <a:t>position and motion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IMU, LiDAR, wheels, and GPS have limits.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Multiple sensors can give conflicting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Sensor fusion reduces individual sensor errors.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Fusion model gives a more reliable robot state.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9C37D-3D81-C973-8513-28FBC7B71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10097"/>
            <a:ext cx="3851994" cy="282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2ADE-2B43-4DB6-B7C3-BCE3C4EB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69425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Autonomous Navigation System – Component Diagram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7851F-FA45-AC2E-8EB7-8EB726A4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63A40-7F69-8C2A-6E74-CD92D8FF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3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7315C3-F5D6-3B3D-9801-0B4E72C7E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5" y="1291958"/>
            <a:ext cx="7386810" cy="454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9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62B8-4209-23E3-C8DE-B6879DD1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68" y="333569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Types of Sensor Fusion Model: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8BAC0-5560-9101-FEC1-38B145DE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8F1F3-5D87-B931-7C82-14354D98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4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0AEE7-4EB3-E1D4-8ABD-9AAA71303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56" y="1162118"/>
            <a:ext cx="6515744" cy="507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4AFE-5D24-426B-AE58-AAB3E5A2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229"/>
            <a:ext cx="7675432" cy="1143000"/>
          </a:xfrm>
        </p:spPr>
        <p:txBody>
          <a:bodyPr>
            <a:normAutofit/>
          </a:bodyPr>
          <a:lstStyle/>
          <a:p>
            <a:r>
              <a:rPr lang="en-US" sz="2000" dirty="0"/>
              <a:t>EKF Fusion Process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B1FC0-9372-36C4-20E9-ED485D21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C529C-A29E-1C16-7829-4B6BDA4B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5</a:t>
            </a:fld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FA568B-2C24-116A-9CEA-34205277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031"/>
            <a:ext cx="8531999" cy="426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93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C223-7C80-BB7E-E786-BBB8045F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318" y="402750"/>
            <a:ext cx="7675432" cy="1143000"/>
          </a:xfrm>
        </p:spPr>
        <p:txBody>
          <a:bodyPr>
            <a:normAutofit/>
          </a:bodyPr>
          <a:lstStyle/>
          <a:p>
            <a:r>
              <a:rPr lang="en-US" sz="2000" dirty="0"/>
              <a:t>Autonomous Navigation System - Use Case Diagram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D782D-42F0-9454-97D0-B672888F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4460E-5924-BC13-54F6-88B3C194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6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97920-B30B-90AA-2843-599F69A3A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95" y="1231665"/>
            <a:ext cx="6349972" cy="46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4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DB40-8722-1A51-46CF-2A670B9A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50375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Autonomous Navigation System –Sequence Diagram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999AD-5938-FBEF-A17D-4450A765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62652-39BB-24DD-D46E-E3306140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7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2AA85-A83E-8050-F410-F3B8BDD9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68" y="1593375"/>
            <a:ext cx="7157056" cy="438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509E-EE3F-E20B-F0F6-F30AF7DE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750" y="345600"/>
            <a:ext cx="7675432" cy="1143000"/>
          </a:xfrm>
        </p:spPr>
        <p:txBody>
          <a:bodyPr>
            <a:normAutofit/>
          </a:bodyPr>
          <a:lstStyle/>
          <a:p>
            <a:r>
              <a:rPr lang="en-US" sz="2800" dirty="0"/>
              <a:t>Mechanical Design: From Paper to Prototype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577ED-EAA8-54B8-48ED-8A356F8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11C80-DE25-0B9F-E881-21D194DF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8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0D883-2D39-4CF1-45AE-2977476DE0B4}"/>
              </a:ext>
            </a:extLst>
          </p:cNvPr>
          <p:cNvSpPr txBox="1"/>
          <p:nvPr/>
        </p:nvSpPr>
        <p:spPr>
          <a:xfrm>
            <a:off x="200025" y="1371600"/>
            <a:ext cx="61690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prototype is initially sketched.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Developed full chassis in mechanical design tool focused on: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LiDAR positioned for clear 360° scanning.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IMU centered for accurate motion measurement.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Balanced wheel placement.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 Weight distribution.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C1EFE1-F455-ECCA-E45B-7EAFDDD42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3406578"/>
            <a:ext cx="4639434" cy="2823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6EFBAE-CA26-9B3C-7E39-72E5BEA52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38" y="3429000"/>
            <a:ext cx="2192156" cy="286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2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8594-143B-EB3F-F2BB-CEDCA532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745651"/>
            <a:ext cx="5524200" cy="530700"/>
          </a:xfrm>
        </p:spPr>
        <p:txBody>
          <a:bodyPr>
            <a:normAutofit/>
          </a:bodyPr>
          <a:lstStyle/>
          <a:p>
            <a:r>
              <a:rPr lang="en-US" sz="2400" dirty="0"/>
              <a:t>Electrical Design &amp; Wiring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A1DD9-4E6C-0888-B56D-B7CB7E4B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03.06.2026</a:t>
            </a:fld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FA010-3BA4-B6E8-3593-0294A0FE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9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E39EF-66C9-3ECB-4675-52101201C61D}"/>
              </a:ext>
            </a:extLst>
          </p:cNvPr>
          <p:cNvSpPr txBox="1"/>
          <p:nvPr/>
        </p:nvSpPr>
        <p:spPr>
          <a:xfrm>
            <a:off x="119632" y="1328261"/>
            <a:ext cx="8758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Raspberry Pi GPIO is connected to  L298N (IN1–IN4 direction </a:t>
            </a:r>
            <a:r>
              <a:rPr lang="en-US" dirty="0" err="1"/>
              <a:t>pins,ENA</a:t>
            </a:r>
            <a:r>
              <a:rPr lang="en-US" dirty="0"/>
              <a:t>, ENB for PWM).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GY-87 is connected Pi via I²C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LiDAR is connected  Pi via UART.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Battery is connected to  regulate voltage of Pi but motor rail directly from battery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ground across battery, L298N, regulator, Pi, sensors.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C7906-05AE-24AA-B6F0-6013326CC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02" y="2805589"/>
            <a:ext cx="6327995" cy="326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0773-D368-6CAF-B682-96FC8BFC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84" y="265454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 Without EKF: Real Vehicle and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AB57-73CB-E502-D587-1CB3EBFE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75" y="1376508"/>
            <a:ext cx="7675432" cy="4104983"/>
          </a:xfrm>
        </p:spPr>
        <p:txBody>
          <a:bodyPr>
            <a:normAutofit/>
          </a:bodyPr>
          <a:lstStyle/>
          <a:p>
            <a:r>
              <a:rPr lang="en-US" sz="1800" dirty="0"/>
              <a:t>Actual path drifts away from the planned path.</a:t>
            </a:r>
          </a:p>
          <a:p>
            <a:r>
              <a:rPr lang="en-US" sz="1800" dirty="0"/>
              <a:t> Yaw angle becomes unstable during turning.</a:t>
            </a:r>
          </a:p>
          <a:p>
            <a:r>
              <a:rPr lang="en-US" sz="1800" dirty="0"/>
              <a:t> Velocity does not follow the setpoint smoothly.</a:t>
            </a:r>
          </a:p>
          <a:p>
            <a:r>
              <a:rPr lang="en-US" sz="1800" dirty="0"/>
              <a:t> Distance estimation keeps accumulating error.</a:t>
            </a:r>
          </a:p>
          <a:p>
            <a:r>
              <a:rPr lang="en-US" sz="1800" dirty="0"/>
              <a:t> LiDAR/odometry alone cannot correct the robot position.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C91F-954B-B011-CBFE-7C9D6711BC5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C440D-4E04-A839-4A5F-4ED12F3F0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1B7DE-355B-AFD8-F51B-18B7FE0CF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5" y="3352800"/>
            <a:ext cx="4710928" cy="2224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62E1B1-40D2-2316-8295-B4C22021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912" y="3202904"/>
            <a:ext cx="2781298" cy="27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01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B12A-BBC7-AF74-A795-BA2A643A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84" y="303554"/>
            <a:ext cx="7675432" cy="1143000"/>
          </a:xfrm>
        </p:spPr>
        <p:txBody>
          <a:bodyPr>
            <a:normAutofit/>
          </a:bodyPr>
          <a:lstStyle/>
          <a:p>
            <a:r>
              <a:rPr lang="en-US" sz="1800" dirty="0"/>
              <a:t>Applying EKF: Raspberry pi data using MATLAB plot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EB0A-8E7D-C422-275E-ED410529D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75" y="1297280"/>
            <a:ext cx="7675432" cy="4104983"/>
          </a:xfrm>
        </p:spPr>
        <p:txBody>
          <a:bodyPr>
            <a:normAutofit/>
          </a:bodyPr>
          <a:lstStyle/>
          <a:p>
            <a:r>
              <a:rPr lang="en-US" sz="1600" dirty="0"/>
              <a:t>Raspberry Pi collects </a:t>
            </a:r>
            <a:r>
              <a:rPr lang="en-US" sz="1600" b="1" dirty="0"/>
              <a:t>IMU and LiDAR data</a:t>
            </a:r>
            <a:r>
              <a:rPr lang="en-US" sz="1600" dirty="0"/>
              <a:t>. </a:t>
            </a:r>
          </a:p>
          <a:p>
            <a:r>
              <a:rPr lang="en-US" sz="1600" dirty="0"/>
              <a:t>Python script runs </a:t>
            </a:r>
            <a:r>
              <a:rPr lang="en-US" sz="1600" b="1" dirty="0"/>
              <a:t>EKF predict–correct estimation</a:t>
            </a:r>
            <a:r>
              <a:rPr lang="en-US" sz="1600" dirty="0"/>
              <a:t>.</a:t>
            </a:r>
          </a:p>
          <a:p>
            <a:r>
              <a:rPr lang="en-US" sz="1600" dirty="0"/>
              <a:t> Sensor and EKF data are sent to MATLAB using </a:t>
            </a:r>
            <a:r>
              <a:rPr lang="en-US" sz="1600" b="1" dirty="0"/>
              <a:t>UDP packets</a:t>
            </a:r>
            <a:r>
              <a:rPr lang="en-US" sz="1600" dirty="0"/>
              <a:t>.</a:t>
            </a:r>
          </a:p>
          <a:p>
            <a:r>
              <a:rPr lang="en-US" sz="1600" dirty="0"/>
              <a:t> MATLAB logs the received data into </a:t>
            </a:r>
            <a:r>
              <a:rPr lang="en-US" sz="1600" b="1" dirty="0"/>
              <a:t>CSV files</a:t>
            </a:r>
            <a:r>
              <a:rPr lang="en-US" sz="1600" dirty="0"/>
              <a:t>.</a:t>
            </a:r>
          </a:p>
          <a:p>
            <a:r>
              <a:rPr lang="en-US" sz="1600" dirty="0"/>
              <a:t> MATLAB plots path, yaw, distance, LiDAR, velocity, and PWM.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09A6-B601-9D09-FFD4-82FD66FBB7F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E56DC-2634-BED2-C55F-FCA7630A3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5C84F-56B0-AF6A-AED1-6A33B089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84" y="2876548"/>
            <a:ext cx="7236764" cy="337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9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DA70-504A-09AE-BDED-3C260A8B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Raspberry Pi EKF Test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EBBC5-8E49-F838-5F53-0F09085A51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E275F-E138-DB75-FF27-D2727DDDC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12</a:t>
            </a:fld>
            <a:endParaRPr lang="de-DE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A07C3E6-4696-A2B9-39D7-AF99C4068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684817"/>
              </p:ext>
            </p:extLst>
          </p:nvPr>
        </p:nvGraphicFramePr>
        <p:xfrm>
          <a:off x="647700" y="2020888"/>
          <a:ext cx="767556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509">
                  <a:extLst>
                    <a:ext uri="{9D8B030D-6E8A-4147-A177-3AD203B41FA5}">
                      <a16:colId xmlns:a16="http://schemas.microsoft.com/office/drawing/2014/main" val="386074107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665799539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4067040327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1147163818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61936353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411422815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69856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Motion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Target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EKF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Distance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Target Yaw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Actual Yaw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Yaw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43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Forward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300.47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+0.47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9.94°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9.94°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0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Right 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−85.34°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4.66°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54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Forward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200.86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+0.86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−89.99°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0.01°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16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501.33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+1.33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399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3D38621-DD71-D3FC-BCF2-A1406E5CE6A6}"/>
              </a:ext>
            </a:extLst>
          </p:cNvPr>
          <p:cNvSpPr txBox="1"/>
          <p:nvPr/>
        </p:nvSpPr>
        <p:spPr>
          <a:xfrm>
            <a:off x="0" y="5425559"/>
            <a:ext cx="8660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EKF provides accurate distance estimation, while a small yaw error remains during turning.</a:t>
            </a:r>
          </a:p>
        </p:txBody>
      </p:sp>
    </p:spTree>
    <p:extLst>
      <p:ext uri="{BB962C8B-B14F-4D97-AF65-F5344CB8AC3E}">
        <p14:creationId xmlns:p14="http://schemas.microsoft.com/office/powerpoint/2010/main" val="24064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53D7-E692-0F33-A8F8-3E5D9142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Applying EKF : Raspberry Pi using Rviz(Live Visualization)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C6EC-5C54-3C6C-7B98-82189A669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25" y="1659230"/>
            <a:ext cx="7675432" cy="4104983"/>
          </a:xfrm>
        </p:spPr>
        <p:txBody>
          <a:bodyPr>
            <a:normAutofit/>
          </a:bodyPr>
          <a:lstStyle/>
          <a:p>
            <a:r>
              <a:rPr lang="en-US" sz="1100" dirty="0"/>
              <a:t>On Ubuntu, a ROS2 node receives the UDP packets and republishes them as standard ROS2 messages (Path, Pose, Markers, TF).</a:t>
            </a:r>
          </a:p>
          <a:p>
            <a:r>
              <a:rPr lang="en-US" sz="1100" dirty="0"/>
              <a:t> RViz renders robot state, trajectory, and orientation </a:t>
            </a:r>
            <a:r>
              <a:rPr lang="en-US" sz="1100" b="1" dirty="0"/>
              <a:t>live</a:t>
            </a:r>
            <a:r>
              <a:rPr lang="en-US" sz="1100" dirty="0"/>
              <a:t> during operation.</a:t>
            </a:r>
          </a:p>
          <a:p>
            <a:r>
              <a:rPr lang="en-US" sz="1100" dirty="0"/>
              <a:t> Purpose: live demonstration and debugging — watching the robot move in RViz in real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10CE7-A47A-1F48-6E1B-D583442F055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99AF3-2C68-1CE6-7409-9884164EA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13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74EBE9-AD59-CB8B-91F2-E7CDC033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43" y="2484584"/>
            <a:ext cx="7197002" cy="380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0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D25A-C6E5-6C51-0590-CA7D0A6D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" y="377054"/>
            <a:ext cx="7675432" cy="1143000"/>
          </a:xfrm>
        </p:spPr>
        <p:txBody>
          <a:bodyPr>
            <a:normAutofit/>
          </a:bodyPr>
          <a:lstStyle/>
          <a:p>
            <a:r>
              <a:rPr lang="en-US" sz="2800" dirty="0"/>
              <a:t> RViz Data Analyzed in MATLAB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13661-371D-D4B6-CBF3-B2E5F66446F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45D84-5F2D-596F-65F2-937EB8126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14</a:t>
            </a:fld>
            <a:endParaRPr lang="de-DE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7E14B49-76A4-6C80-46C1-3C40F312D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170942"/>
              </p:ext>
            </p:extLst>
          </p:nvPr>
        </p:nvGraphicFramePr>
        <p:xfrm>
          <a:off x="228599" y="1841228"/>
          <a:ext cx="8029574" cy="432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1">
                  <a:extLst>
                    <a:ext uri="{9D8B030D-6E8A-4147-A177-3AD203B41FA5}">
                      <a16:colId xmlns:a16="http://schemas.microsoft.com/office/drawing/2014/main" val="1145257070"/>
                    </a:ext>
                  </a:extLst>
                </a:gridCol>
                <a:gridCol w="1190271">
                  <a:extLst>
                    <a:ext uri="{9D8B030D-6E8A-4147-A177-3AD203B41FA5}">
                      <a16:colId xmlns:a16="http://schemas.microsoft.com/office/drawing/2014/main" val="3582911865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3529350244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736021583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3923523841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3292735292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3135212076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4287577927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1610058923"/>
                    </a:ext>
                  </a:extLst>
                </a:gridCol>
                <a:gridCol w="800144">
                  <a:extLst>
                    <a:ext uri="{9D8B030D-6E8A-4147-A177-3AD203B41FA5}">
                      <a16:colId xmlns:a16="http://schemas.microsoft.com/office/drawing/2014/main" val="3044323480"/>
                    </a:ext>
                  </a:extLst>
                </a:gridCol>
              </a:tblGrid>
              <a:tr h="12792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Motion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Target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EKF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Distance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Distance Error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Target Yaw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Actual Yaw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Yaw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Yaw Error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615900"/>
                  </a:ext>
                </a:extLst>
              </a:tr>
              <a:tr h="984034">
                <a:tc>
                  <a:txBody>
                    <a:bodyPr/>
                    <a:lstStyle/>
                    <a:p>
                      <a:r>
                        <a:rPr lang="en-US" dirty="0"/>
                        <a:t>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Forward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300.99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+0.99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0.33%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0.92°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0.92°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0.92°</a:t>
                      </a:r>
                      <a:r>
                        <a:rPr lang="en-US" b="1" dirty="0"/>
                        <a:t>%</a:t>
                      </a:r>
                      <a:endParaRPr lang="en-US" dirty="0"/>
                    </a:p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83440"/>
                  </a:ext>
                </a:extLst>
              </a:tr>
              <a:tr h="688824">
                <a:tc>
                  <a:txBody>
                    <a:bodyPr/>
                    <a:lstStyle/>
                    <a:p>
                      <a:r>
                        <a:rPr lang="en-US" dirty="0"/>
                        <a:t>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Right 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−86.45°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3.55°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3.94%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687750"/>
                  </a:ext>
                </a:extLst>
              </a:tr>
              <a:tr h="688824">
                <a:tc>
                  <a:txBody>
                    <a:bodyPr/>
                    <a:lstStyle/>
                    <a:p>
                      <a:r>
                        <a:rPr lang="en-US" dirty="0"/>
                        <a:t>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Forward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201.28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+1.28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0.64%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−89.57°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0.43°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0.48%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437667"/>
                  </a:ext>
                </a:extLst>
              </a:tr>
              <a:tr h="688824">
                <a:tc>
                  <a:txBody>
                    <a:bodyPr/>
                    <a:lstStyle/>
                    <a:p>
                      <a:r>
                        <a:rPr lang="en-US" dirty="0"/>
                        <a:t>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502.27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+2.27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0.45%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6482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05231C-E062-8CDB-83E5-7725AE4E02F5}"/>
              </a:ext>
            </a:extLst>
          </p:cNvPr>
          <p:cNvSpPr txBox="1"/>
          <p:nvPr/>
        </p:nvSpPr>
        <p:spPr>
          <a:xfrm>
            <a:off x="228599" y="1465807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 Table </a:t>
            </a:r>
          </a:p>
        </p:txBody>
      </p:sp>
    </p:spTree>
    <p:extLst>
      <p:ext uri="{BB962C8B-B14F-4D97-AF65-F5344CB8AC3E}">
        <p14:creationId xmlns:p14="http://schemas.microsoft.com/office/powerpoint/2010/main" val="200475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05E2E-89D8-A0C8-9202-50E0B1A5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75" y="383700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Rviz plotted Data Analyzed in MATLAB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9EB77A-7F85-8610-B9E4-045128712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50" y="2269665"/>
            <a:ext cx="7675563" cy="40077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A105-DC51-30B1-C3BE-F8E999B3EFB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546A4-4437-A194-1647-3A8BAE66A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631C4-A943-F88D-A905-8EBEE3B51726}"/>
              </a:ext>
            </a:extLst>
          </p:cNvPr>
          <p:cNvSpPr txBox="1"/>
          <p:nvPr/>
        </p:nvSpPr>
        <p:spPr>
          <a:xfrm>
            <a:off x="295575" y="1314956"/>
            <a:ext cx="29991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Kalman filter reduces LiDAR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Actual yaw follows the target yaw.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Yaw error peaks during turning.</a:t>
            </a:r>
          </a:p>
        </p:txBody>
      </p:sp>
    </p:spTree>
    <p:extLst>
      <p:ext uri="{BB962C8B-B14F-4D97-AF65-F5344CB8AC3E}">
        <p14:creationId xmlns:p14="http://schemas.microsoft.com/office/powerpoint/2010/main" val="2384583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C8BF-99C5-8885-D167-37F5CD9D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75" y="345600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Simulation Using EKF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31401-D060-B4ED-CD89-E9B030B5E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525" y="1268705"/>
            <a:ext cx="7675432" cy="4104983"/>
          </a:xfrm>
        </p:spPr>
        <p:txBody>
          <a:bodyPr>
            <a:normAutofit/>
          </a:bodyPr>
          <a:lstStyle/>
          <a:p>
            <a:r>
              <a:rPr lang="en-US" sz="1800" dirty="0"/>
              <a:t>In Python simulator, now with the EKF enabled.</a:t>
            </a:r>
          </a:p>
          <a:p>
            <a:r>
              <a:rPr lang="en-US" sz="1800" dirty="0"/>
              <a:t> Drift is visibly suppressed; the estimated trajectory tracks the reference path cleanly.</a:t>
            </a:r>
          </a:p>
          <a:p>
            <a:r>
              <a:rPr lang="en-US" sz="1800" dirty="0"/>
              <a:t>The EKF mathematically reduces drift, as expected from theory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E0E3-45D0-FEF5-40D9-3E2717A7AA1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BE5A2-3DA8-989E-20D3-4BC385CA7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16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40ADA-93C4-C90A-717A-D128CD199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92" y="2790825"/>
            <a:ext cx="6629398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9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A750-DCD4-C720-EDB8-1FEC4C91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50" y="412275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Successful LiDAR–IMU Fusion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5A3A-7C86-2A78-663C-BB8385A3C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150" y="1471758"/>
            <a:ext cx="7675432" cy="4104983"/>
          </a:xfrm>
        </p:spPr>
        <p:txBody>
          <a:bodyPr>
            <a:noAutofit/>
          </a:bodyPr>
          <a:lstStyle/>
          <a:p>
            <a:r>
              <a:rPr lang="en-US" sz="1800" dirty="0"/>
              <a:t>Forward 1 distance error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0.33%</a:t>
            </a:r>
            <a:r>
              <a:rPr lang="en-US" sz="1800" dirty="0"/>
              <a:t> </a:t>
            </a:r>
          </a:p>
          <a:p>
            <a:r>
              <a:rPr lang="en-US" sz="1800" dirty="0"/>
              <a:t>Right turn yaw error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3.94%</a:t>
            </a:r>
          </a:p>
          <a:p>
            <a:r>
              <a:rPr lang="en-US" sz="1800" dirty="0"/>
              <a:t> Forward 2 distance error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0.64%</a:t>
            </a:r>
            <a:r>
              <a:rPr lang="en-US" sz="1800" dirty="0"/>
              <a:t> </a:t>
            </a:r>
          </a:p>
          <a:p>
            <a:r>
              <a:rPr lang="en-US" sz="1800" dirty="0"/>
              <a:t>Forward 2 yaw error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0.48%</a:t>
            </a:r>
            <a:r>
              <a:rPr lang="en-US" sz="1800" dirty="0"/>
              <a:t> </a:t>
            </a:r>
          </a:p>
          <a:p>
            <a:r>
              <a:rPr lang="en-US" sz="1800" dirty="0"/>
              <a:t>Total forward distance error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0.45%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CEA67-F8F7-185D-FD14-3EB0D109DA5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4C009-B658-9152-5B30-1EB0A2114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7718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122A-B553-841C-36A7-9F4278E1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25" y="402750"/>
            <a:ext cx="7675432" cy="1143000"/>
          </a:xfrm>
        </p:spPr>
        <p:txBody>
          <a:bodyPr>
            <a:normAutofit/>
          </a:bodyPr>
          <a:lstStyle/>
          <a:p>
            <a:r>
              <a:rPr lang="en-US" sz="2000" dirty="0"/>
              <a:t>Limitation: Small Yaw Error During Sharp Turn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D4C861-0A6C-F4DF-1E07-833FDB66E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059" y="2897374"/>
            <a:ext cx="3699166" cy="30235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9BDC5-1565-02A2-D8CF-207BE6D585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7290F-D9BA-C1FD-72DD-119E56371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18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FCFB58-669C-9DF1-494F-9B5BC40E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516" y="1362074"/>
            <a:ext cx="2133984" cy="14880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E2DC22-0FFB-9EE7-836F-6173CC6F5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390" y="2897374"/>
            <a:ext cx="4241110" cy="2180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81EBBA-5453-A13A-7C10-FBB230DD2FAD}"/>
              </a:ext>
            </a:extLst>
          </p:cNvPr>
          <p:cNvSpPr txBox="1"/>
          <p:nvPr/>
        </p:nvSpPr>
        <p:spPr>
          <a:xfrm>
            <a:off x="0" y="1481538"/>
            <a:ext cx="637706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During the sharp right turn, yaw response has a small delay and does not reach the exact −90° target.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 The robot reached about </a:t>
            </a:r>
            <a:r>
              <a:rPr lang="en-US" sz="1100" b="1" dirty="0"/>
              <a:t>−86.45°</a:t>
            </a:r>
            <a:r>
              <a:rPr lang="en-US" sz="1100" dirty="0"/>
              <a:t>, giving </a:t>
            </a:r>
            <a:r>
              <a:rPr lang="en-US" sz="1100" b="1" dirty="0"/>
              <a:t>3.55° yaw error</a:t>
            </a:r>
            <a:r>
              <a:rPr lang="en-US" sz="1100" dirty="0"/>
              <a:t>, mainly due to wheel slip and motor imbalance.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 After the turn, EKF stabilizes the robot again; in Forward 2 yaw improves to </a:t>
            </a:r>
            <a:r>
              <a:rPr lang="en-US" sz="1100" b="1" dirty="0"/>
              <a:t>−89.57°</a:t>
            </a:r>
            <a:r>
              <a:rPr lang="en-US" sz="1100" dirty="0"/>
              <a:t> with only </a:t>
            </a:r>
            <a:r>
              <a:rPr lang="en-US" sz="1100" b="1" dirty="0"/>
              <a:t>0.43° error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4231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CD92-71FD-E59C-C600-8F122B78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503744"/>
            <a:ext cx="7675432" cy="1143000"/>
          </a:xfrm>
        </p:spPr>
        <p:txBody>
          <a:bodyPr>
            <a:normAutofit/>
          </a:bodyPr>
          <a:lstStyle/>
          <a:p>
            <a:r>
              <a:rPr lang="en-US" sz="2400" dirty="0"/>
              <a:t> Live Car Visualization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5616-A384-74C4-78AF-012D51287FA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B7D09-EEBC-0D46-FCC3-DB7704FAE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19</a:t>
            </a:fld>
            <a:endParaRPr lang="de-DE" dirty="0"/>
          </a:p>
        </p:txBody>
      </p:sp>
      <p:pic>
        <p:nvPicPr>
          <p:cNvPr id="9" name="real_car_video">
            <a:hlinkClick r:id="" action="ppaction://media"/>
            <a:extLst>
              <a:ext uri="{FF2B5EF4-FFF2-40B4-BE49-F238E27FC236}">
                <a16:creationId xmlns:a16="http://schemas.microsoft.com/office/drawing/2014/main" id="{2DFFE399-BF27-89D0-4188-6040AC18E6E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81600" y="1468438"/>
            <a:ext cx="2309813" cy="4105275"/>
          </a:xfrm>
        </p:spPr>
      </p:pic>
    </p:spTree>
    <p:extLst>
      <p:ext uri="{BB962C8B-B14F-4D97-AF65-F5344CB8AC3E}">
        <p14:creationId xmlns:p14="http://schemas.microsoft.com/office/powerpoint/2010/main" val="144673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5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E1A0-D4F1-D784-DB01-64F1B62ED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00" y="364650"/>
            <a:ext cx="7675432" cy="1143000"/>
          </a:xfrm>
        </p:spPr>
        <p:txBody>
          <a:bodyPr>
            <a:normAutofit/>
          </a:bodyPr>
          <a:lstStyle/>
          <a:p>
            <a:r>
              <a:rPr lang="en-US" sz="2800" dirty="0"/>
              <a:t>Probable Solutions and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9887-66E8-21B8-39C0-A86B85A6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545751"/>
            <a:ext cx="8408175" cy="5153024"/>
          </a:xfrm>
        </p:spPr>
        <p:txBody>
          <a:bodyPr>
            <a:noAutofit/>
          </a:bodyPr>
          <a:lstStyle/>
          <a:p>
            <a:r>
              <a:rPr lang="en-US" sz="2400" dirty="0"/>
              <a:t>Wheel encoders</a:t>
            </a:r>
          </a:p>
          <a:p>
            <a:r>
              <a:rPr lang="en-US" sz="2400" dirty="0"/>
              <a:t> Closed-loop PID</a:t>
            </a:r>
          </a:p>
          <a:p>
            <a:r>
              <a:rPr lang="en-US" sz="2400" dirty="0"/>
              <a:t> A better motor driver</a:t>
            </a:r>
          </a:p>
          <a:p>
            <a:r>
              <a:rPr lang="en-US" sz="2400" dirty="0"/>
              <a:t> A stable power supply</a:t>
            </a:r>
          </a:p>
          <a:p>
            <a:r>
              <a:rPr lang="en-US" sz="2400" dirty="0"/>
              <a:t>Yaw-based turn control</a:t>
            </a:r>
          </a:p>
          <a:p>
            <a:r>
              <a:rPr lang="en-US" sz="2400" dirty="0"/>
              <a:t>Mechanical improvements</a:t>
            </a:r>
          </a:p>
          <a:p>
            <a:r>
              <a:rPr lang="en-US" sz="2400" dirty="0"/>
              <a:t> Rigid sensor mounting</a:t>
            </a:r>
          </a:p>
          <a:p>
            <a:r>
              <a:rPr lang="en-US" sz="2400" dirty="0"/>
              <a:t>Advanced LiDAR processing </a:t>
            </a:r>
          </a:p>
          <a:p>
            <a:r>
              <a:rPr lang="en-US" sz="2400" dirty="0"/>
              <a:t>A full rectangular path test</a:t>
            </a:r>
          </a:p>
          <a:p>
            <a:r>
              <a:rPr lang="en-US" sz="2400" dirty="0"/>
              <a:t> Repeated trials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B589C-DF7E-D8CF-7D3E-276F4AFFB8B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12B58-000B-41A9-88EC-A929004A6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0939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8F0D-3AA8-5C82-8762-4B9A96DC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432" y="491924"/>
            <a:ext cx="7675432" cy="1143000"/>
          </a:xfrm>
        </p:spPr>
        <p:txBody>
          <a:bodyPr/>
          <a:lstStyle/>
          <a:p>
            <a:r>
              <a:rPr lang="en-US" dirty="0"/>
              <a:t>References &amp; Software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5857-0B81-786B-CF48-47802CFA3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19" y="1634924"/>
            <a:ext cx="7675432" cy="4104983"/>
          </a:xfrm>
        </p:spPr>
        <p:txBody>
          <a:bodyPr>
            <a:normAutofit fontScale="70000" lnSpcReduction="20000"/>
          </a:bodyPr>
          <a:lstStyle/>
          <a:p>
            <a:r>
              <a:rPr lang="en-US" sz="2000" b="1" dirty="0"/>
              <a:t>Theory &amp; Algorithm</a:t>
            </a:r>
            <a:endParaRPr lang="en-US" sz="2000" dirty="0"/>
          </a:p>
          <a:p>
            <a:r>
              <a:rPr lang="en-US" sz="2000" dirty="0"/>
              <a:t>R. E. Kalman, </a:t>
            </a:r>
            <a:r>
              <a:rPr lang="en-US" sz="2000" i="1" dirty="0"/>
              <a:t>A New Approach to Linear Filtering and Prediction Problems</a:t>
            </a:r>
            <a:r>
              <a:rPr lang="en-US" sz="2000" dirty="0"/>
              <a:t>, 1960. </a:t>
            </a:r>
          </a:p>
          <a:p>
            <a:r>
              <a:rPr lang="en-US" sz="2000" dirty="0"/>
              <a:t>G. Welch and G. Bishop, </a:t>
            </a:r>
            <a:r>
              <a:rPr lang="en-US" sz="2000" i="1" dirty="0"/>
              <a:t>An Introduction to the Kalman Filter</a:t>
            </a:r>
            <a:r>
              <a:rPr lang="en-US" sz="2000" dirty="0"/>
              <a:t>, 2006. </a:t>
            </a:r>
          </a:p>
          <a:p>
            <a:r>
              <a:rPr lang="en-US" sz="2000" dirty="0"/>
              <a:t>S. Thrun, W. Burgard, D. Fox, </a:t>
            </a:r>
            <a:r>
              <a:rPr lang="en-US" sz="2000" i="1" dirty="0"/>
              <a:t>Probabilistic Robotics</a:t>
            </a:r>
            <a:r>
              <a:rPr lang="en-US" sz="2000" dirty="0"/>
              <a:t>, MIT Press, 2005. </a:t>
            </a:r>
          </a:p>
          <a:p>
            <a:r>
              <a:rPr lang="en-US" sz="2000" dirty="0"/>
              <a:t>R. Siegwart, I. Nourbakhsh, D. </a:t>
            </a:r>
            <a:r>
              <a:rPr lang="en-US" sz="2000" dirty="0" err="1"/>
              <a:t>Scaramuzza</a:t>
            </a:r>
            <a:r>
              <a:rPr lang="en-US" sz="2000" dirty="0"/>
              <a:t>, </a:t>
            </a:r>
            <a:r>
              <a:rPr lang="en-US" sz="2000" i="1" dirty="0"/>
              <a:t>Introduction to Autonomous Mobile Robots</a:t>
            </a:r>
            <a:r>
              <a:rPr lang="en-US" sz="2000" dirty="0"/>
              <a:t>, MIT Press, 2011. </a:t>
            </a:r>
          </a:p>
          <a:p>
            <a:r>
              <a:rPr lang="en-US" sz="2000" dirty="0"/>
              <a:t>J. Borenstein and L. Feng, </a:t>
            </a:r>
            <a:r>
              <a:rPr lang="en-US" sz="2000" i="1" dirty="0"/>
              <a:t>Measurement and Correction of Systematic Odometry Errors in Mobile Robots</a:t>
            </a:r>
            <a:r>
              <a:rPr lang="en-US" sz="2000" dirty="0"/>
              <a:t>, IEEE, 1996. </a:t>
            </a:r>
          </a:p>
          <a:p>
            <a:r>
              <a:rPr lang="en-US" sz="2000" b="1" dirty="0"/>
              <a:t>Sensors &amp; Hardware</a:t>
            </a:r>
            <a:br>
              <a:rPr lang="en-US" sz="2000" dirty="0"/>
            </a:br>
            <a:r>
              <a:rPr lang="en-US" sz="2000" dirty="0"/>
              <a:t>6. </a:t>
            </a:r>
            <a:r>
              <a:rPr lang="en-US" sz="2000" dirty="0" err="1"/>
              <a:t>InvenSense</a:t>
            </a:r>
            <a:r>
              <a:rPr lang="en-US" sz="2000" dirty="0"/>
              <a:t>, </a:t>
            </a:r>
            <a:r>
              <a:rPr lang="en-US" sz="2000" i="1" dirty="0"/>
              <a:t>MPU-6000 and MPU-6050 Product Specification</a:t>
            </a:r>
            <a:r>
              <a:rPr lang="en-US" sz="2000" dirty="0"/>
              <a:t>, 2013.</a:t>
            </a:r>
            <a:br>
              <a:rPr lang="en-US" sz="2000" dirty="0"/>
            </a:br>
            <a:r>
              <a:rPr lang="en-US" sz="2000" dirty="0"/>
              <a:t>7. Honeywell, </a:t>
            </a:r>
            <a:r>
              <a:rPr lang="en-US" sz="2000" i="1" dirty="0"/>
              <a:t>HMC5883L 3-Axis Digital Compass IC Datasheet</a:t>
            </a:r>
            <a:r>
              <a:rPr lang="en-US" sz="2000" dirty="0"/>
              <a:t>, 2013.</a:t>
            </a:r>
            <a:br>
              <a:rPr lang="en-US" sz="2000" dirty="0"/>
            </a:br>
            <a:r>
              <a:rPr lang="en-US" sz="2000" dirty="0"/>
              <a:t>8. Raspberry Pi Foundation, </a:t>
            </a:r>
            <a:r>
              <a:rPr lang="en-US" sz="2000" i="1" dirty="0"/>
              <a:t>Raspberry Pi Documentation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9. L298N H-Bridge Motor Driver Datasheet / Module Documentation.</a:t>
            </a:r>
            <a:br>
              <a:rPr lang="en-US" sz="2000" dirty="0"/>
            </a:br>
            <a:r>
              <a:rPr lang="en-US" sz="2000" dirty="0"/>
              <a:t>10. LiDAR Sensor Manufacturer Documentation / Datasheet.</a:t>
            </a:r>
          </a:p>
          <a:p>
            <a:r>
              <a:rPr lang="en-US" sz="2000" b="1" dirty="0"/>
              <a:t>Software &amp; Tools</a:t>
            </a:r>
            <a:br>
              <a:rPr lang="en-US" sz="2000" dirty="0"/>
            </a:br>
            <a:r>
              <a:rPr lang="en-US" sz="2000" dirty="0"/>
              <a:t>11. MATLAB, </a:t>
            </a:r>
            <a:r>
              <a:rPr lang="en-US" sz="2000" i="1" dirty="0"/>
              <a:t>MathWorks Documentation</a:t>
            </a:r>
            <a:r>
              <a:rPr lang="en-US" sz="2000" dirty="0"/>
              <a:t> — data logging, plotting, post-processing.</a:t>
            </a:r>
            <a:br>
              <a:rPr lang="en-US" sz="2000" dirty="0"/>
            </a:br>
            <a:r>
              <a:rPr lang="en-US" sz="2000" dirty="0"/>
              <a:t>12. ROS 2 Documentation, </a:t>
            </a:r>
            <a:r>
              <a:rPr lang="en-US" sz="2000" i="1" dirty="0"/>
              <a:t>Open Robotics</a:t>
            </a:r>
            <a:r>
              <a:rPr lang="en-US" sz="2000" dirty="0"/>
              <a:t> — robot communication and </a:t>
            </a:r>
            <a:r>
              <a:rPr lang="en-US" sz="2000" dirty="0" err="1"/>
              <a:t>visualisation</a:t>
            </a:r>
            <a:r>
              <a:rPr lang="en-US" sz="2000" dirty="0"/>
              <a:t> pipeline.</a:t>
            </a:r>
            <a:br>
              <a:rPr lang="en-US" sz="2000" dirty="0"/>
            </a:br>
            <a:r>
              <a:rPr lang="en-US" sz="2000" dirty="0"/>
              <a:t>13. RViz Documentation, </a:t>
            </a:r>
            <a:r>
              <a:rPr lang="en-US" sz="2000" i="1" dirty="0"/>
              <a:t>Open Robotics</a:t>
            </a:r>
            <a:r>
              <a:rPr lang="en-US" sz="2000" dirty="0"/>
              <a:t> — live robot/path </a:t>
            </a:r>
            <a:r>
              <a:rPr lang="en-US" sz="2000" dirty="0" err="1"/>
              <a:t>visualisation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14. Python Documentation — Raspberry Pi control, UDP telemetry, sensor processing.</a:t>
            </a:r>
            <a:br>
              <a:rPr lang="en-US" sz="2000" dirty="0"/>
            </a:br>
            <a:r>
              <a:rPr lang="en-US" sz="2000" dirty="0"/>
              <a:t>15. Ubuntu Documentation — host-side ROS 2/RViz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15F1-E447-2902-6287-432463F24D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03.06.2026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933A8-D2F9-F1E3-DEB8-5EC2A01AA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881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5087</TotalTime>
  <Words>1136</Words>
  <Application>Microsoft Office PowerPoint</Application>
  <PresentationFormat>On-screen Show (4:3)</PresentationFormat>
  <Paragraphs>219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Source Sans Pro</vt:lpstr>
      <vt:lpstr>Office-Design</vt:lpstr>
      <vt:lpstr>Autonomous Navigation System Using Sensor Fusion </vt:lpstr>
      <vt:lpstr>Motivation </vt:lpstr>
      <vt:lpstr>Autonomous Navigation System – Component Diagram  </vt:lpstr>
      <vt:lpstr>Types of Sensor Fusion Model:</vt:lpstr>
      <vt:lpstr>EKF Fusion Process</vt:lpstr>
      <vt:lpstr>Autonomous Navigation System - Use Case Diagram  </vt:lpstr>
      <vt:lpstr>Autonomous Navigation System –Sequence Diagram  </vt:lpstr>
      <vt:lpstr>Mechanical Design: From Paper to Prototype</vt:lpstr>
      <vt:lpstr>Electrical Design &amp; Wiring</vt:lpstr>
      <vt:lpstr> Without EKF: Real Vehicle and Simulation</vt:lpstr>
      <vt:lpstr>Applying EKF: Raspberry pi data using MATLAB plot </vt:lpstr>
      <vt:lpstr>Raspberry Pi EKF Test Results</vt:lpstr>
      <vt:lpstr>Applying EKF : Raspberry Pi using Rviz(Live Visualization)</vt:lpstr>
      <vt:lpstr> RViz Data Analyzed in MATLAB</vt:lpstr>
      <vt:lpstr>Rviz plotted Data Analyzed in MATLAB</vt:lpstr>
      <vt:lpstr>Simulation Using EKF</vt:lpstr>
      <vt:lpstr>Successful LiDAR–IMU Fusion Test</vt:lpstr>
      <vt:lpstr>Limitation: Small Yaw Error During Sharp Turn</vt:lpstr>
      <vt:lpstr> Live Car Visualization</vt:lpstr>
      <vt:lpstr>Probable Solutions and Future Improvements</vt:lpstr>
      <vt:lpstr>References &amp; Software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Nafis</dc:creator>
  <cp:lastModifiedBy>Md. Nafis</cp:lastModifiedBy>
  <cp:revision>4</cp:revision>
  <dcterms:created xsi:type="dcterms:W3CDTF">2026-05-24T09:45:49Z</dcterms:created>
  <dcterms:modified xsi:type="dcterms:W3CDTF">2026-06-03T19:03:49Z</dcterms:modified>
</cp:coreProperties>
</file>